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Hospital Accountant</a:t>
            </a:r>
          </a:p>
          <a:p>
            <a:pPr>
              <a:defRPr sz="2200"/>
            </a:pPr>
            <a:r>
              <a:t>Finance/billing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Manage invoices and payments safely.</a:t>
            </a:r>
          </a:p>
          <a:p>
            <a:pPr>
              <a:spcAft>
                <a:spcPts val="800"/>
              </a:spcAft>
              <a:defRPr sz="1900"/>
            </a:pPr>
            <a:r>
              <a:t>Reconcile financial records.</a:t>
            </a:r>
          </a:p>
          <a:p>
            <a:pPr>
              <a:spcAft>
                <a:spcPts val="800"/>
              </a:spcAft>
              <a:defRPr sz="1900"/>
            </a:pPr>
            <a:r>
              <a:t>Understand separation of duties.</a:t>
            </a:r>
          </a:p>
          <a:p>
            <a:pPr>
              <a:spcAft>
                <a:spcPts val="800"/>
              </a:spcAft>
              <a:defRPr sz="1900"/>
            </a:pPr>
            <a:r>
              <a:t>Avoid duplicate or unauthorized transactions.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Invoice/payment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patient/account and invoice.</a:t>
            </a:r>
          </a:p>
          <a:p>
            <a:pPr>
              <a:spcAft>
                <a:spcPts val="800"/>
              </a:spcAft>
              <a:defRPr sz="1900"/>
            </a:pPr>
            <a:r>
              <a:t>Confirm amount and payment method.</a:t>
            </a:r>
          </a:p>
          <a:p>
            <a:pPr>
              <a:spcAft>
                <a:spcPts val="800"/>
              </a:spcAft>
              <a:defRPr sz="1900"/>
            </a:pPr>
            <a:r>
              <a:t>Submit once.</a:t>
            </a:r>
          </a:p>
          <a:p>
            <a:pPr>
              <a:spcAft>
                <a:spcPts val="800"/>
              </a:spcAft>
              <a:defRPr sz="1900"/>
            </a:pPr>
            <a:r>
              <a:t>Reconcile the resulting status before retrying.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policy and coverage information.</a:t>
            </a:r>
          </a:p>
          <a:p>
            <a:pPr>
              <a:spcAft>
                <a:spcPts val="800"/>
              </a:spcAft>
              <a:defRPr sz="1900"/>
            </a:pPr>
            <a:r>
              <a:t>Record approved financial information.</a:t>
            </a:r>
          </a:p>
          <a:p>
            <a:pPr>
              <a:spcAft>
                <a:spcPts val="800"/>
              </a:spcAft>
              <a:defRPr sz="1900"/>
            </a:pPr>
            <a:r>
              <a:t>Reconcile insurer/payment status.</a:t>
            </a:r>
          </a:p>
          <a:p>
            <a:pPr>
              <a:spcAft>
                <a:spcPts val="800"/>
              </a:spcAft>
              <a:defRPr sz="1900"/>
            </a:pPr>
            <a:r>
              <a:t>Escalate discrepancies rather than overwriting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Wrong account payment.</a:t>
            </a:r>
          </a:p>
          <a:p>
            <a:pPr>
              <a:spcAft>
                <a:spcPts val="800"/>
              </a:spcAft>
              <a:defRPr sz="1900"/>
            </a:pPr>
            <a:r>
              <a:t>Duplicate payment.</a:t>
            </a:r>
          </a:p>
          <a:p>
            <a:pPr>
              <a:spcAft>
                <a:spcPts val="800"/>
              </a:spcAft>
              <a:defRPr sz="1900"/>
            </a:pPr>
            <a:r>
              <a:t>Unauthorized adjustment.</a:t>
            </a:r>
          </a:p>
          <a:p>
            <a:pPr>
              <a:spcAft>
                <a:spcPts val="800"/>
              </a:spcAft>
              <a:defRPr sz="1900"/>
            </a:pPr>
            <a:r>
              <a:t>Unreconciled insurance balances.</a:t>
            </a:r>
          </a:p>
          <a:p>
            <a:pPr>
              <a:spcAft>
                <a:spcPts val="800"/>
              </a:spcAft>
              <a:defRPr sz="1900"/>
            </a:pPr>
            <a:r>
              <a:t>Exposure of patient financial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invoice/account.</a:t>
            </a:r>
          </a:p>
          <a:p>
            <a:pPr>
              <a:spcAft>
                <a:spcPts val="800"/>
              </a:spcAft>
              <a:defRPr sz="1900"/>
            </a:pPr>
            <a:r>
              <a:t>Check transaction result before retry.</a:t>
            </a:r>
          </a:p>
          <a:p>
            <a:pPr>
              <a:spcAft>
                <a:spcPts val="800"/>
              </a:spcAft>
              <a:defRPr sz="1900"/>
            </a:pPr>
            <a:r>
              <a:t>Reconcile daily.</a:t>
            </a:r>
          </a:p>
          <a:p>
            <a:pPr>
              <a:spcAft>
                <a:spcPts val="800"/>
              </a:spcAft>
              <a:defRPr sz="1900"/>
            </a:pPr>
            <a:r>
              <a:t>Follow approval/separation-of-duties controls.</a:t>
            </a:r>
          </a:p>
          <a:p>
            <a:pPr>
              <a:spcAft>
                <a:spcPts val="800"/>
              </a:spcAft>
              <a:defRPr sz="1900"/>
            </a:pPr>
            <a:r>
              <a:t>Protect financial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on ambiguous payment result.</a:t>
            </a:r>
          </a:p>
          <a:p>
            <a:pPr>
              <a:spcAft>
                <a:spcPts val="800"/>
              </a:spcAft>
              <a:defRPr sz="1900"/>
            </a:pPr>
            <a:r>
              <a:t>Record transaction reference.</a:t>
            </a:r>
          </a:p>
          <a:p>
            <a:pPr>
              <a:spcAft>
                <a:spcPts val="800"/>
              </a:spcAft>
              <a:defRPr sz="1900"/>
            </a:pPr>
            <a:r>
              <a:t>Escalate reconciliation discrepancies.</a:t>
            </a:r>
          </a:p>
          <a:p>
            <a:pPr>
              <a:spcAft>
                <a:spcPts val="800"/>
              </a:spcAft>
              <a:defRPr sz="1900"/>
            </a:pPr>
            <a:r>
              <a:t>Never hide a mismatch by deleting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