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/>
            </a:pPr>
            <a:r>
              <a:t>EMTAF SaaS</a:t>
            </a:r>
          </a:p>
          <a:p>
            <a:pPr>
              <a:defRPr sz="3000"/>
            </a:pPr>
            <a:r>
              <a:t>Staff Training • Safe &amp; Effective Use</a:t>
            </a:r>
          </a:p>
          <a:p>
            <a:pPr>
              <a:defRPr sz="1800"/>
            </a:pPr>
            <a:r>
              <a:t>Hospital • School • College • Hotel • Real 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v1.9 • Training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Training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Understand the tenant-based EMTAF operating model.</a:t>
            </a:r>
          </a:p>
          <a:p>
            <a:pPr>
              <a:spcAft>
                <a:spcPts val="700"/>
              </a:spcAft>
              <a:defRPr sz="2000"/>
            </a:pPr>
            <a:r>
              <a:t>Know what each role can and cannot do.</a:t>
            </a:r>
          </a:p>
          <a:p>
            <a:pPr>
              <a:spcAft>
                <a:spcPts val="700"/>
              </a:spcAft>
              <a:defRPr sz="2000"/>
            </a:pPr>
            <a:r>
              <a:t>Follow safe workflows and protect sensitive information.</a:t>
            </a:r>
          </a:p>
          <a:p>
            <a:pPr>
              <a:spcAft>
                <a:spcPts val="700"/>
              </a:spcAft>
              <a:defRPr sz="2000"/>
            </a:pPr>
            <a:r>
              <a:t>Recognize common scenarios, risks, exceptions and escalation paths.</a:t>
            </a:r>
          </a:p>
          <a:p>
            <a:pPr>
              <a:spcAft>
                <a:spcPts val="700"/>
              </a:spcAft>
              <a:defRPr sz="2000"/>
            </a:pPr>
            <a:r>
              <a:t>Use the demo/wireframe to practice before production access.</a:t>
            </a:r>
          </a:p>
          <a:p>
            <a:pPr>
              <a:spcAft>
                <a:spcPts val="700"/>
              </a:spcAft>
              <a:defRPr sz="2000"/>
            </a:pPr>
            <a:r>
              <a:t>Know the operational benefits: faster work, traceability, consistency and fewer manual hand-offs.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What EMTAF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One core platform supports multiple business domains while keeping each tenant isolated.</a:t>
            </a:r>
          </a:p>
          <a:p>
            <a:pPr>
              <a:spcAft>
                <a:spcPts val="700"/>
              </a:spcAft>
              <a:defRPr sz="2000"/>
            </a:pPr>
            <a:r>
              <a:t>Users work inside a selected organization/tenant; permissions are determined by tenant membership and role.</a:t>
            </a:r>
          </a:p>
          <a:p>
            <a:pPr>
              <a:spcAft>
                <a:spcPts val="700"/>
              </a:spcAft>
              <a:defRPr sz="2000"/>
            </a:pPr>
            <a:r>
              <a:t>Domain services remain independently deployable, while common identity, tenancy, RBAC, audit, data and infrastructure capabilities are shared.</a:t>
            </a:r>
          </a:p>
          <a:p>
            <a:pPr>
              <a:spcAft>
                <a:spcPts val="700"/>
              </a:spcAft>
              <a:defRPr sz="2000"/>
            </a:pPr>
            <a:r>
              <a:t>Key principle: access is granted for the work you need to perform—not simply because you can see the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The safe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1. Sign in with your own account; never share credentials.</a:t>
            </a:r>
          </a:p>
          <a:p>
            <a:pPr>
              <a:spcAft>
                <a:spcPts val="700"/>
              </a:spcAft>
              <a:defRPr sz="2000"/>
            </a:pPr>
            <a:r>
              <a:t>2. Confirm the correct tenant/organization before entering or viewing data.</a:t>
            </a:r>
          </a:p>
          <a:p>
            <a:pPr>
              <a:spcAft>
                <a:spcPts val="700"/>
              </a:spcAft>
              <a:defRPr sz="2000"/>
            </a:pPr>
            <a:r>
              <a:t>3. Perform only role-authorized actions.</a:t>
            </a:r>
          </a:p>
          <a:p>
            <a:pPr>
              <a:spcAft>
                <a:spcPts val="700"/>
              </a:spcAft>
              <a:defRPr sz="2000"/>
            </a:pPr>
            <a:r>
              <a:t>4. Verify critical data before saving or submitting.</a:t>
            </a:r>
          </a:p>
          <a:p>
            <a:pPr>
              <a:spcAft>
                <a:spcPts val="700"/>
              </a:spcAft>
              <a:defRPr sz="2000"/>
            </a:pPr>
            <a:r>
              <a:t>5. Treat audit history as part of the business record.</a:t>
            </a:r>
          </a:p>
          <a:p>
            <a:pPr>
              <a:spcAft>
                <a:spcPts val="700"/>
              </a:spcAft>
              <a:defRPr sz="2000"/>
            </a:pPr>
            <a:r>
              <a:t>6. Escalate unusual access, incorrect data, suspected duplicates or security incidents.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Role-based access: common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Superadmin — tenant-wide configuration, user/role administration and oversight.</a:t>
            </a:r>
          </a:p>
          <a:p>
            <a:pPr>
              <a:spcAft>
                <a:spcPts val="700"/>
              </a:spcAft>
              <a:defRPr sz="2000"/>
            </a:pPr>
            <a:r>
              <a:t>Admin — operational administration within the tenant.</a:t>
            </a:r>
          </a:p>
          <a:p>
            <a:pPr>
              <a:spcAft>
                <a:spcPts val="700"/>
              </a:spcAft>
              <a:defRPr sz="2000"/>
            </a:pPr>
            <a:r>
              <a:t>Specialist roles — domain work required for the job function.</a:t>
            </a:r>
          </a:p>
          <a:p>
            <a:pPr>
              <a:spcAft>
                <a:spcPts val="700"/>
              </a:spcAft>
              <a:defRPr sz="2000"/>
            </a:pPr>
            <a:r>
              <a:t>Finance roles — billing, invoices, payments and financial reconciliation.</a:t>
            </a:r>
          </a:p>
          <a:p>
            <a:pPr>
              <a:spcAft>
                <a:spcPts val="700"/>
              </a:spcAft>
              <a:defRPr sz="2000"/>
            </a:pPr>
            <a:r>
              <a:t>Front-desk roles — registration, scheduling, check-in and customer-facing operations.</a:t>
            </a:r>
          </a:p>
          <a:p>
            <a:pPr>
              <a:spcAft>
                <a:spcPts val="700"/>
              </a:spcAft>
              <a:defRPr sz="2000"/>
            </a:pPr>
            <a:r>
              <a:t>End users/customers/patients/tenants — restricted self-service access to their own permitted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Hospital: role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Superadmin: tenant setup, users, roles, configuration and audit oversight.</a:t>
            </a:r>
          </a:p>
          <a:p>
            <a:pPr>
              <a:spcAft>
                <a:spcPts val="700"/>
              </a:spcAft>
              <a:defRPr sz="2000"/>
            </a:pPr>
            <a:r>
              <a:t>Admin: departments, staff, operational setup and workflow oversight.</a:t>
            </a:r>
          </a:p>
          <a:p>
            <a:pPr>
              <a:spcAft>
                <a:spcPts val="700"/>
              </a:spcAft>
              <a:defRPr sz="2000"/>
            </a:pPr>
            <a:r>
              <a:t>Doctor: clinical records, encounters, prescriptions, investigations and relevant patient care.</a:t>
            </a:r>
          </a:p>
          <a:p>
            <a:pPr>
              <a:spcAft>
                <a:spcPts val="700"/>
              </a:spcAft>
              <a:defRPr sz="2000"/>
            </a:pPr>
            <a:r>
              <a:t>Nurse: nursing/clinical workflow, admissions/bed-related tasks and assigned patient care.</a:t>
            </a:r>
          </a:p>
          <a:p>
            <a:pPr>
              <a:spcAft>
                <a:spcPts val="700"/>
              </a:spcAft>
              <a:defRPr sz="2000"/>
            </a:pPr>
            <a:r>
              <a:t>Accountant: invoices, payments, insurance/financial workflows and reconciliation.</a:t>
            </a:r>
          </a:p>
          <a:p>
            <a:pPr>
              <a:spcAft>
                <a:spcPts val="700"/>
              </a:spcAft>
              <a:defRPr sz="2000"/>
            </a:pPr>
            <a:r>
              <a:t>Receptionist: patient registration, appointments, check-in and front-desk workflows.</a:t>
            </a:r>
          </a:p>
          <a:p>
            <a:pPr>
              <a:spcAft>
                <a:spcPts val="700"/>
              </a:spcAft>
              <a:defRPr sz="2000"/>
            </a:pPr>
            <a:r>
              <a:t>Patient: own profile, appointments and permitted self-service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Hospital: common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New patient registration → verify identity → create/locate patient → avoid duplicate records.</a:t>
            </a:r>
          </a:p>
          <a:p>
            <a:pPr>
              <a:spcAft>
                <a:spcPts val="700"/>
              </a:spcAft>
              <a:defRPr sz="2000"/>
            </a:pPr>
            <a:r>
              <a:t>Appointment → confirm patient + provider + time → save → communicate confirmation.</a:t>
            </a:r>
          </a:p>
          <a:p>
            <a:pPr>
              <a:spcAft>
                <a:spcPts val="700"/>
              </a:spcAft>
              <a:defRPr sz="2000"/>
            </a:pPr>
            <a:r>
              <a:t>Admission → verify authorization → select available bed → complete atomic admission/bed assignment.</a:t>
            </a:r>
          </a:p>
          <a:p>
            <a:pPr>
              <a:spcAft>
                <a:spcPts val="700"/>
              </a:spcAft>
              <a:defRPr sz="2000"/>
            </a:pPr>
            <a:r>
              <a:t>Clinical encounter → verify patient context → document care → order investigations/prescription as authorized.</a:t>
            </a:r>
          </a:p>
          <a:p>
            <a:pPr>
              <a:spcAft>
                <a:spcPts val="700"/>
              </a:spcAft>
              <a:defRPr sz="2000"/>
            </a:pPr>
            <a:r>
              <a:t>Discharge → verify clinical completion → discharge summary → billing/clearance → close admission.</a:t>
            </a:r>
          </a:p>
          <a:p>
            <a:pPr>
              <a:spcAft>
                <a:spcPts val="700"/>
              </a:spcAft>
              <a:defRPr sz="2000"/>
            </a:pPr>
            <a:r>
              <a:t>Payment → verify invoice → record payment → reconcile; never edit around a failed transaction without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Hospital: risks &amp;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Wrong tenant/patient — always verify tenant and patient identifiers before clinical/financial actions.</a:t>
            </a:r>
          </a:p>
          <a:p>
            <a:pPr>
              <a:spcAft>
                <a:spcPts val="700"/>
              </a:spcAft>
              <a:defRPr sz="2000"/>
            </a:pPr>
            <a:r>
              <a:t>Over-permission — use least privilege; request role changes through authorized administrators.</a:t>
            </a:r>
          </a:p>
          <a:p>
            <a:pPr>
              <a:spcAft>
                <a:spcPts val="700"/>
              </a:spcAft>
              <a:defRPr sz="2000"/>
            </a:pPr>
            <a:r>
              <a:t>Duplicate patient records — search before creating; follow merge/correction procedure.</a:t>
            </a:r>
          </a:p>
          <a:p>
            <a:pPr>
              <a:spcAft>
                <a:spcPts val="700"/>
              </a:spcAft>
              <a:defRPr sz="2000"/>
            </a:pPr>
            <a:r>
              <a:t>Incorrect clinical data — correct through controlled amendment/audit workflow rather than deleting history.</a:t>
            </a:r>
          </a:p>
          <a:p>
            <a:pPr>
              <a:spcAft>
                <a:spcPts val="700"/>
              </a:spcAft>
              <a:defRPr sz="2000"/>
            </a:pPr>
            <a:r>
              <a:t>Bed double-booking — use the transactional admission/bed workflow.</a:t>
            </a:r>
          </a:p>
          <a:p>
            <a:pPr>
              <a:spcAft>
                <a:spcPts val="700"/>
              </a:spcAft>
              <a:defRPr sz="2000"/>
            </a:pPr>
            <a:r>
              <a:t>Privacy breach — never export/share patient information outside approved channels.</a:t>
            </a:r>
          </a:p>
          <a:p>
            <a:pPr>
              <a:spcAft>
                <a:spcPts val="700"/>
              </a:spcAft>
              <a:defRPr sz="2000"/>
            </a:pPr>
            <a:r>
              <a:t>Financial mismatch — reconcile invoice, payment and insurance records before closing.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School: role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Admissions/registration → verify student identity and enrollment context.</a:t>
            </a:r>
          </a:p>
          <a:p>
            <a:pPr>
              <a:spcAft>
                <a:spcPts val="700"/>
              </a:spcAft>
              <a:defRPr sz="2000"/>
            </a:pPr>
            <a:r>
              <a:t>Teacher → manage assigned classes, attendance and relevant academic records.</a:t>
            </a:r>
          </a:p>
          <a:p>
            <a:pPr>
              <a:spcAft>
                <a:spcPts val="700"/>
              </a:spcAft>
              <a:defRPr sz="2000"/>
            </a:pPr>
            <a:r>
              <a:t>Administrator → manage school configuration, staff and operational workflows.</a:t>
            </a:r>
          </a:p>
          <a:p>
            <a:pPr>
              <a:spcAft>
                <a:spcPts val="700"/>
              </a:spcAft>
              <a:defRPr sz="2000"/>
            </a:pPr>
            <a:r>
              <a:t>Attendance correction → verify source evidence, make authorized correction and preserve traceability.</a:t>
            </a:r>
          </a:p>
          <a:p>
            <a:pPr>
              <a:spcAft>
                <a:spcPts val="700"/>
              </a:spcAft>
              <a:defRPr sz="2000"/>
            </a:pPr>
            <a:r>
              <a:t>Student/guardian self-service → access only permitted student information.</a:t>
            </a:r>
          </a:p>
          <a:p>
            <a:pPr>
              <a:spcAft>
                <a:spcPts val="700"/>
              </a:spcAft>
              <a:defRPr sz="2000"/>
            </a:pPr>
            <a:r>
              <a:t>Risk: publishing or sharing student information outside the authorized school/role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College: role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Student enrollment → verify student, course and term before enrollment.</a:t>
            </a:r>
          </a:p>
          <a:p>
            <a:pPr>
              <a:spcAft>
                <a:spcPts val="700"/>
              </a:spcAft>
              <a:defRPr sz="2000"/>
            </a:pPr>
            <a:r>
              <a:t>Faculty → manage assigned course/attendance/exam information.</a:t>
            </a:r>
          </a:p>
          <a:p>
            <a:pPr>
              <a:spcAft>
                <a:spcPts val="700"/>
              </a:spcAft>
              <a:defRPr sz="2000"/>
            </a:pPr>
            <a:r>
              <a:t>Department/admin → manage academic structures and operational configuration.</a:t>
            </a:r>
          </a:p>
          <a:p>
            <a:pPr>
              <a:spcAft>
                <a:spcPts val="700"/>
              </a:spcAft>
              <a:defRPr sz="2000"/>
            </a:pPr>
            <a:r>
              <a:t>Fees → financial staff verify invoices/payments and reconcile before closure.</a:t>
            </a:r>
          </a:p>
          <a:p>
            <a:pPr>
              <a:spcAft>
                <a:spcPts val="700"/>
              </a:spcAft>
              <a:defRPr sz="2000"/>
            </a:pPr>
            <a:r>
              <a:t>Exam/results → use controlled publication/correction procedures; preserve auditability.</a:t>
            </a:r>
          </a:p>
          <a:p>
            <a:pPr>
              <a:spcAft>
                <a:spcPts val="700"/>
              </a:spcAft>
              <a:defRPr sz="2000"/>
            </a:pPr>
            <a:r>
              <a:t>Risk: unauthorized academic record changes or disclosure of student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Hotel: role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Reservation → verify guest, dates, room type and availability.</a:t>
            </a:r>
          </a:p>
          <a:p>
            <a:pPr>
              <a:spcAft>
                <a:spcPts val="700"/>
              </a:spcAft>
              <a:defRPr sz="2000"/>
            </a:pPr>
            <a:r>
              <a:t>Front desk → check-in/check-out using the correct booking and guest identity.</a:t>
            </a:r>
          </a:p>
          <a:p>
            <a:pPr>
              <a:spcAft>
                <a:spcPts val="700"/>
              </a:spcAft>
              <a:defRPr sz="2000"/>
            </a:pPr>
            <a:r>
              <a:t>Housekeeping → update room status accurately and promptly.</a:t>
            </a:r>
          </a:p>
          <a:p>
            <a:pPr>
              <a:spcAft>
                <a:spcPts val="700"/>
              </a:spcAft>
              <a:defRPr sz="2000"/>
            </a:pPr>
            <a:r>
              <a:t>Finance → reconcile folios, invoices and payments.</a:t>
            </a:r>
          </a:p>
          <a:p>
            <a:pPr>
              <a:spcAft>
                <a:spcPts val="700"/>
              </a:spcAft>
              <a:defRPr sz="2000"/>
            </a:pPr>
            <a:r>
              <a:t>Manager/admin → oversee inventory, staff access and operational exceptions.</a:t>
            </a:r>
          </a:p>
          <a:p>
            <a:pPr>
              <a:spcAft>
                <a:spcPts val="700"/>
              </a:spcAft>
              <a:defRPr sz="2000"/>
            </a:pPr>
            <a:r>
              <a:t>Risk: wrong-room assignment, duplicate booking, incorrect guest details or unapproved financial adjustment.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Real Estate: role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Agent → manage assigned leads, listings and viewings.</a:t>
            </a:r>
          </a:p>
          <a:p>
            <a:pPr>
              <a:spcAft>
                <a:spcPts val="700"/>
              </a:spcAft>
              <a:defRPr sz="2000"/>
            </a:pPr>
            <a:r>
              <a:t>Property manager → maintain property/unit/lease information.</a:t>
            </a:r>
          </a:p>
          <a:p>
            <a:pPr>
              <a:spcAft>
                <a:spcPts val="700"/>
              </a:spcAft>
              <a:defRPr sz="2000"/>
            </a:pPr>
            <a:r>
              <a:t>Accountant → manage lease payments and financial reconciliation.</a:t>
            </a:r>
          </a:p>
          <a:p>
            <a:pPr>
              <a:spcAft>
                <a:spcPts val="700"/>
              </a:spcAft>
              <a:defRPr sz="2000"/>
            </a:pPr>
            <a:r>
              <a:t>Admin → tenant configuration and access management.</a:t>
            </a:r>
          </a:p>
          <a:p>
            <a:pPr>
              <a:spcAft>
                <a:spcPts val="700"/>
              </a:spcAft>
              <a:defRPr sz="2000"/>
            </a:pPr>
            <a:r>
              <a:t>Buyer/tenant → restricted self-service access to permitted records.</a:t>
            </a:r>
          </a:p>
          <a:p>
            <a:pPr>
              <a:spcAft>
                <a:spcPts val="700"/>
              </a:spcAft>
              <a:defRPr sz="2000"/>
            </a:pPr>
            <a:r>
              <a:t>Risk: exposing owner/tenant information, changing property/lease terms without authorization, or recording payments against the wrong lease.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Benefits staff should expect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Less duplicate data entry through shared records and consistent workflows.</a:t>
            </a:r>
          </a:p>
          <a:p>
            <a:pPr>
              <a:spcAft>
                <a:spcPts val="700"/>
              </a:spcAft>
              <a:defRPr sz="2000"/>
            </a:pPr>
            <a:r>
              <a:t>Faster operations through standardized processes and role-specific screens.</a:t>
            </a:r>
          </a:p>
          <a:p>
            <a:pPr>
              <a:spcAft>
                <a:spcPts val="700"/>
              </a:spcAft>
              <a:defRPr sz="2000"/>
            </a:pPr>
            <a:r>
              <a:t>Better accountability because important actions are auditable.</a:t>
            </a:r>
          </a:p>
          <a:p>
            <a:pPr>
              <a:spcAft>
                <a:spcPts val="700"/>
              </a:spcAft>
              <a:defRPr sz="2000"/>
            </a:pPr>
            <a:r>
              <a:t>Reduced cross-tenant exposure through tenant context and database-level isolation.</a:t>
            </a:r>
          </a:p>
          <a:p>
            <a:pPr>
              <a:spcAft>
                <a:spcPts val="700"/>
              </a:spcAft>
              <a:defRPr sz="2000"/>
            </a:pPr>
            <a:r>
              <a:t>Clearer ownership: users see the actions appropriate to their role.</a:t>
            </a:r>
          </a:p>
          <a:p>
            <a:pPr>
              <a:spcAft>
                <a:spcPts val="700"/>
              </a:spcAft>
              <a:defRPr sz="2000"/>
            </a:pPr>
            <a:r>
              <a:t>Operational visibility through dashboards, metrics and domain events.</a:t>
            </a:r>
          </a:p>
          <a:p>
            <a:pPr>
              <a:spcAft>
                <a:spcPts val="700"/>
              </a:spcAft>
              <a:defRPr sz="2000"/>
            </a:pPr>
            <a:r>
              <a:t>Independent domain deployments allow changes to one business area without requiring all domains to be released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What staff should NOT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Do not share accounts or use another person's credentials.</a:t>
            </a:r>
          </a:p>
          <a:p>
            <a:pPr>
              <a:spcAft>
                <a:spcPts val="700"/>
              </a:spcAft>
              <a:defRPr sz="2000"/>
            </a:pPr>
            <a:r>
              <a:t>Do not select a different tenant merely to gain access to information.</a:t>
            </a:r>
          </a:p>
          <a:p>
            <a:pPr>
              <a:spcAft>
                <a:spcPts val="700"/>
              </a:spcAft>
              <a:defRPr sz="2000"/>
            </a:pPr>
            <a:r>
              <a:t>Do not bypass a permission restriction by exporting, copying or manually changing backend data.</a:t>
            </a:r>
          </a:p>
          <a:p>
            <a:pPr>
              <a:spcAft>
                <a:spcPts val="700"/>
              </a:spcAft>
              <a:defRPr sz="2000"/>
            </a:pPr>
            <a:r>
              <a:t>Do not delete historical records to hide an error.</a:t>
            </a:r>
          </a:p>
          <a:p>
            <a:pPr>
              <a:spcAft>
                <a:spcPts val="700"/>
              </a:spcAft>
              <a:defRPr sz="2000"/>
            </a:pPr>
            <a:r>
              <a:t>Do not enter placeholder or invented information in production.</a:t>
            </a:r>
          </a:p>
          <a:p>
            <a:pPr>
              <a:spcAft>
                <a:spcPts val="700"/>
              </a:spcAft>
              <a:defRPr sz="2000"/>
            </a:pPr>
            <a:r>
              <a:t>Do not approve your own financial or administrative exception when separation of duties applies.</a:t>
            </a:r>
          </a:p>
          <a:p>
            <a:pPr>
              <a:spcAft>
                <a:spcPts val="700"/>
              </a:spcAft>
              <a:defRPr sz="2000"/>
            </a:pPr>
            <a:r>
              <a:t>Do not send sensitive records through unapproved messaging or personal storage.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Incident &amp; exception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Stop the questionable action if safe to do so.</a:t>
            </a:r>
          </a:p>
          <a:p>
            <a:pPr>
              <a:spcAft>
                <a:spcPts val="700"/>
              </a:spcAft>
              <a:defRPr sz="2000"/>
            </a:pPr>
            <a:r>
              <a:t>Capture the relevant reference: tenant, record, timestamp and transaction/workflow identifier.</a:t>
            </a:r>
          </a:p>
          <a:p>
            <a:pPr>
              <a:spcAft>
                <a:spcPts val="700"/>
              </a:spcAft>
              <a:defRPr sz="2000"/>
            </a:pPr>
            <a:r>
              <a:t>Do not repeatedly retry a failed critical transaction if it may create duplicates.</a:t>
            </a:r>
          </a:p>
          <a:p>
            <a:pPr>
              <a:spcAft>
                <a:spcPts val="700"/>
              </a:spcAft>
              <a:defRPr sz="2000"/>
            </a:pPr>
            <a:r>
              <a:t>Report access, privacy, financial or data-integrity issues through the organization's escalation path.</a:t>
            </a:r>
          </a:p>
          <a:p>
            <a:pPr>
              <a:spcAft>
                <a:spcPts val="700"/>
              </a:spcAft>
              <a:defRPr sz="2000"/>
            </a:pPr>
            <a:r>
              <a:t>Preserve audit evidence; don't manually manipulate database records.</a:t>
            </a:r>
          </a:p>
          <a:p>
            <a:pPr>
              <a:spcAft>
                <a:spcPts val="700"/>
              </a:spcAft>
              <a:defRPr sz="2000"/>
            </a:pPr>
            <a:r>
              <a:t>Administrators should investigate through logs/audit/event history and apply a controlled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Training exercise 1 — Hospital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Log in as receptionist → register/search a patient → create an appointment.</a:t>
            </a:r>
          </a:p>
          <a:p>
            <a:pPr>
              <a:spcAft>
                <a:spcPts val="700"/>
              </a:spcAft>
              <a:defRPr sz="2000"/>
            </a:pPr>
            <a:r>
              <a:t>Switch to doctor → open the same patient → create an encounter and prescription.</a:t>
            </a:r>
          </a:p>
          <a:p>
            <a:pPr>
              <a:spcAft>
                <a:spcPts val="700"/>
              </a:spcAft>
              <a:defRPr sz="2000"/>
            </a:pPr>
            <a:r>
              <a:t>Switch to accountant → review the invoice/payment workflow.</a:t>
            </a:r>
          </a:p>
          <a:p>
            <a:pPr>
              <a:spcAft>
                <a:spcPts val="700"/>
              </a:spcAft>
              <a:defRPr sz="2000"/>
            </a:pPr>
            <a:r>
              <a:t>Switch to patient → verify that self-service access is limited.</a:t>
            </a:r>
          </a:p>
          <a:p>
            <a:pPr>
              <a:spcAft>
                <a:spcPts val="700"/>
              </a:spcAft>
              <a:defRPr sz="2000"/>
            </a:pPr>
            <a:r>
              <a:t>Discuss: what information should each role not see or change?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Training exercise 2 — Tenant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Create/select Hospital A and Hospital B.</a:t>
            </a:r>
          </a:p>
          <a:p>
            <a:pPr>
              <a:spcAft>
                <a:spcPts val="700"/>
              </a:spcAft>
              <a:defRPr sz="2000"/>
            </a:pPr>
            <a:r>
              <a:t>Create a sample patient/property/student in Hospital A.</a:t>
            </a:r>
          </a:p>
          <a:p>
            <a:pPr>
              <a:spcAft>
                <a:spcPts val="700"/>
              </a:spcAft>
              <a:defRPr sz="2000"/>
            </a:pPr>
            <a:r>
              <a:t>Switch to Hospital B and attempt the same lookup.</a:t>
            </a:r>
          </a:p>
          <a:p>
            <a:pPr>
              <a:spcAft>
                <a:spcPts val="700"/>
              </a:spcAft>
              <a:defRPr sz="2000"/>
            </a:pPr>
            <a:r>
              <a:t>Expected behavior: Hospital B cannot access Hospital A's tenant-scoped data.</a:t>
            </a:r>
          </a:p>
          <a:p>
            <a:pPr>
              <a:spcAft>
                <a:spcPts val="700"/>
              </a:spcAft>
              <a:defRPr sz="2000"/>
            </a:pPr>
            <a:r>
              <a:t>Discuss: why application checks plus database RLS provide defense in depth.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Training exercise 3 — Failure &amp;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Trigger a validation failure or unavailable resource scenario.</a:t>
            </a:r>
          </a:p>
          <a:p>
            <a:pPr>
              <a:spcAft>
                <a:spcPts val="700"/>
              </a:spcAft>
              <a:defRPr sz="2000"/>
            </a:pPr>
            <a:r>
              <a:t>Do not repeatedly submit blindly.</a:t>
            </a:r>
          </a:p>
          <a:p>
            <a:pPr>
              <a:spcAft>
                <a:spcPts val="700"/>
              </a:spcAft>
              <a:defRPr sz="2000"/>
            </a:pPr>
            <a:r>
              <a:t>Check whether the operation committed before retrying.</a:t>
            </a:r>
          </a:p>
          <a:p>
            <a:pPr>
              <a:spcAft>
                <a:spcPts val="700"/>
              </a:spcAft>
              <a:defRPr sz="2000"/>
            </a:pPr>
            <a:r>
              <a:t>Use the audit/transaction reference to investigate.</a:t>
            </a:r>
          </a:p>
          <a:p>
            <a:pPr>
              <a:spcAft>
                <a:spcPts val="700"/>
              </a:spcAft>
              <a:defRPr sz="2000"/>
            </a:pPr>
            <a:r>
              <a:t>Retry only through the supported workflow.</a:t>
            </a:r>
          </a:p>
          <a:p>
            <a:pPr>
              <a:spcAft>
                <a:spcPts val="700"/>
              </a:spcAft>
              <a:defRPr sz="2000"/>
            </a:pPr>
            <a:r>
              <a:t>Discuss how idempotent operations reduce duplicate business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Operational improvements — next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P0: automated integration tests against PostgreSQL/Redis/Event Bus for tenant isolation and critical transactions.</a:t>
            </a:r>
          </a:p>
          <a:p>
            <a:pPr>
              <a:spcAft>
                <a:spcPts val="700"/>
              </a:spcAft>
              <a:defRPr sz="2000"/>
            </a:pPr>
            <a:r>
              <a:t>P0: complete authentication/identity provider integration and production secret rotation.</a:t>
            </a:r>
          </a:p>
          <a:p>
            <a:pPr>
              <a:spcAft>
                <a:spcPts val="700"/>
              </a:spcAft>
              <a:defRPr sz="2000"/>
            </a:pPr>
            <a:r>
              <a:t>P0: database migration versioning + rollback/forward-fix strategy and backup/restore drills.</a:t>
            </a:r>
          </a:p>
          <a:p>
            <a:pPr>
              <a:spcAft>
                <a:spcPts val="700"/>
              </a:spcAft>
              <a:defRPr sz="2000"/>
            </a:pPr>
            <a:r>
              <a:t>P1: OpenTelemetry tracing across gateway/core/domain/event flows.</a:t>
            </a:r>
          </a:p>
          <a:p>
            <a:pPr>
              <a:spcAft>
                <a:spcPts val="700"/>
              </a:spcAft>
              <a:defRPr sz="2000"/>
            </a:pPr>
            <a:r>
              <a:t>P1: stronger policy-as-code RBAC/ABAC and separation-of-duties controls.</a:t>
            </a:r>
          </a:p>
          <a:p>
            <a:pPr>
              <a:spcAft>
                <a:spcPts val="700"/>
              </a:spcAft>
              <a:defRPr sz="2000"/>
            </a:pPr>
            <a:r>
              <a:t>P1: centralized error model, idempotency keys and outbox/inbox event delivery.</a:t>
            </a:r>
          </a:p>
          <a:p>
            <a:pPr>
              <a:spcAft>
                <a:spcPts val="700"/>
              </a:spcAft>
              <a:defRPr sz="2000"/>
            </a:pPr>
            <a:r>
              <a:t>P1: CI/CD with image SBOM, vulnerability scanning, signing and promotion across environments.</a:t>
            </a:r>
          </a:p>
          <a:p>
            <a:pPr>
              <a:spcAft>
                <a:spcPts val="700"/>
              </a:spcAft>
              <a:defRPr sz="2000"/>
            </a:pPr>
            <a:r>
              <a:t>P2: caching/read models, async reporting, search and domain-specific analytics.</a:t>
            </a:r>
          </a:p>
          <a:p>
            <a:pPr>
              <a:spcAft>
                <a:spcPts val="700"/>
              </a:spcAft>
              <a:defRPr sz="2000"/>
            </a:pPr>
            <a:r>
              <a:t>P2: automated end-to-end UI tests and role-based training sandbox.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Architecture optimization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Use PostgreSQL connection pooling (e.g., PgBouncer) as service count grows.</a:t>
            </a:r>
          </a:p>
          <a:p>
            <a:pPr>
              <a:spcAft>
                <a:spcPts val="700"/>
              </a:spcAft>
              <a:defRPr sz="2000"/>
            </a:pPr>
            <a:r>
              <a:t>Use Redis only for appropriate caching/session/rate-limit workloads; avoid making it the system of record.</a:t>
            </a:r>
          </a:p>
          <a:p>
            <a:pPr>
              <a:spcAft>
                <a:spcPts val="700"/>
              </a:spcAft>
              <a:defRPr sz="2000"/>
            </a:pPr>
            <a:r>
              <a:t>Adopt transactional outbox + consumer idempotency for reliable domain events.</a:t>
            </a:r>
          </a:p>
          <a:p>
            <a:pPr>
              <a:spcAft>
                <a:spcPts val="700"/>
              </a:spcAft>
              <a:defRPr sz="2000"/>
            </a:pPr>
            <a:r>
              <a:t>Define API versioning and backward-compatible event contracts.</a:t>
            </a:r>
          </a:p>
          <a:p>
            <a:pPr>
              <a:spcAft>
                <a:spcPts val="700"/>
              </a:spcAft>
              <a:defRPr sz="2000"/>
            </a:pPr>
            <a:r>
              <a:t>Use HPA with CPU plus meaningful application metrics where appropriate.</a:t>
            </a:r>
          </a:p>
          <a:p>
            <a:pPr>
              <a:spcAft>
                <a:spcPts val="700"/>
              </a:spcAft>
              <a:defRPr sz="2000"/>
            </a:pPr>
            <a:r>
              <a:t>Add PodDisruptionBudgets, topology spread and workload anti-affinity for production.</a:t>
            </a:r>
          </a:p>
          <a:p>
            <a:pPr>
              <a:spcAft>
                <a:spcPts val="700"/>
              </a:spcAft>
              <a:defRPr sz="2000"/>
            </a:pPr>
            <a:r>
              <a:t>Separate platform/shared databases from domain data ownership as scale and compliance requirements increase.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Security hardening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OIDC/OAuth2 identity provider with short-lived access tokens and refresh-token controls.</a:t>
            </a:r>
          </a:p>
          <a:p>
            <a:pPr>
              <a:spcAft>
                <a:spcPts val="700"/>
              </a:spcAft>
              <a:defRPr sz="2000"/>
            </a:pPr>
            <a:r>
              <a:t>Secrets in an external secret manager; automatic rotation.</a:t>
            </a:r>
          </a:p>
          <a:p>
            <a:pPr>
              <a:spcAft>
                <a:spcPts val="700"/>
              </a:spcAft>
              <a:defRPr sz="2000"/>
            </a:pPr>
            <a:r>
              <a:t>NetworkPolicies with explicit service-to-service allowlists.</a:t>
            </a:r>
          </a:p>
          <a:p>
            <a:pPr>
              <a:spcAft>
                <a:spcPts val="700"/>
              </a:spcAft>
              <a:defRPr sz="2000"/>
            </a:pPr>
            <a:r>
              <a:t>mTLS/service identity where required.</a:t>
            </a:r>
          </a:p>
          <a:p>
            <a:pPr>
              <a:spcAft>
                <a:spcPts val="700"/>
              </a:spcAft>
              <a:defRPr sz="2000"/>
            </a:pPr>
            <a:r>
              <a:t>Audit immutable storage/retention controls for regulated domains.</a:t>
            </a:r>
          </a:p>
          <a:p>
            <a:pPr>
              <a:spcAft>
                <a:spcPts val="700"/>
              </a:spcAft>
              <a:defRPr sz="2000"/>
            </a:pPr>
            <a:r>
              <a:t>Container image signing and admission policy.</a:t>
            </a:r>
          </a:p>
          <a:p>
            <a:pPr>
              <a:spcAft>
                <a:spcPts val="700"/>
              </a:spcAft>
              <a:defRPr sz="2000"/>
            </a:pPr>
            <a:r>
              <a:t>Dependency/SBOM scanning and regular patch automation.</a:t>
            </a:r>
          </a:p>
          <a:p>
            <a:pPr>
              <a:spcAft>
                <a:spcPts val="700"/>
              </a:spcAft>
              <a:defRPr sz="2000"/>
            </a:pPr>
            <a:r>
              <a:t>Backup encryption, disaster recovery testing and documented RPO/RTO.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Staff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Can identify current tenant and role.</a:t>
            </a:r>
          </a:p>
          <a:p>
            <a:pPr>
              <a:spcAft>
                <a:spcPts val="700"/>
              </a:spcAft>
              <a:defRPr sz="2000"/>
            </a:pPr>
            <a:r>
              <a:t>Can complete normal workflow without bypassing controls.</a:t>
            </a:r>
          </a:p>
          <a:p>
            <a:pPr>
              <a:spcAft>
                <a:spcPts val="700"/>
              </a:spcAft>
              <a:defRPr sz="2000"/>
            </a:pPr>
            <a:r>
              <a:t>Can distinguish view vs edit vs approval responsibilities.</a:t>
            </a:r>
          </a:p>
          <a:p>
            <a:pPr>
              <a:spcAft>
                <a:spcPts val="700"/>
              </a:spcAft>
              <a:defRPr sz="2000"/>
            </a:pPr>
            <a:r>
              <a:t>Can recognize a duplicate/incorrect record before creating a new one.</a:t>
            </a:r>
          </a:p>
          <a:p>
            <a:pPr>
              <a:spcAft>
                <a:spcPts val="700"/>
              </a:spcAft>
              <a:defRPr sz="2000"/>
            </a:pPr>
            <a:r>
              <a:t>Can respond safely to failed or uncertain transactions.</a:t>
            </a:r>
          </a:p>
          <a:p>
            <a:pPr>
              <a:spcAft>
                <a:spcPts val="700"/>
              </a:spcAft>
              <a:defRPr sz="2000"/>
            </a:pPr>
            <a:r>
              <a:t>Knows what information is sensitive.</a:t>
            </a:r>
          </a:p>
          <a:p>
            <a:pPr>
              <a:spcAft>
                <a:spcPts val="700"/>
              </a:spcAft>
              <a:defRPr sz="2000"/>
            </a:pPr>
            <a:r>
              <a:t>Knows the escalation path for access, privacy, clinical/academic/financial or operational incidents.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Go-live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Users and roles provisioned with least privilege.</a:t>
            </a:r>
          </a:p>
          <a:p>
            <a:pPr>
              <a:spcAft>
                <a:spcPts val="700"/>
              </a:spcAft>
              <a:defRPr sz="2000"/>
            </a:pPr>
            <a:r>
              <a:t>Tenant configuration verified.</a:t>
            </a:r>
          </a:p>
          <a:p>
            <a:pPr>
              <a:spcAft>
                <a:spcPts val="700"/>
              </a:spcAft>
              <a:defRPr sz="2000"/>
            </a:pPr>
            <a:r>
              <a:t>Reference/sample data removed or isolated from production.</a:t>
            </a:r>
          </a:p>
          <a:p>
            <a:pPr>
              <a:spcAft>
                <a:spcPts val="700"/>
              </a:spcAft>
              <a:defRPr sz="2000"/>
            </a:pPr>
            <a:r>
              <a:t>Backups tested and restore procedure documented.</a:t>
            </a:r>
          </a:p>
          <a:p>
            <a:pPr>
              <a:spcAft>
                <a:spcPts val="700"/>
              </a:spcAft>
              <a:defRPr sz="2000"/>
            </a:pPr>
            <a:r>
              <a:t>Monitoring, alerts and audit logging verified.</a:t>
            </a:r>
          </a:p>
          <a:p>
            <a:pPr>
              <a:spcAft>
                <a:spcPts val="700"/>
              </a:spcAft>
              <a:defRPr sz="2000"/>
            </a:pPr>
            <a:r>
              <a:t>Critical workflows tested by each operational role.</a:t>
            </a:r>
          </a:p>
          <a:p>
            <a:pPr>
              <a:spcAft>
                <a:spcPts val="700"/>
              </a:spcAft>
              <a:defRPr sz="2000"/>
            </a:pPr>
            <a:r>
              <a:t>Incident/escalation contacts communicated.</a:t>
            </a:r>
          </a:p>
          <a:p>
            <a:pPr>
              <a:spcAft>
                <a:spcPts val="700"/>
              </a:spcAft>
              <a:defRPr sz="2000"/>
            </a:pPr>
            <a:r>
              <a:t>Training completed and competency confirmed.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Closing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EMTAF is designed to standardize work without removing professional judgment.</a:t>
            </a:r>
          </a:p>
          <a:p>
            <a:pPr>
              <a:spcAft>
                <a:spcPts val="700"/>
              </a:spcAft>
              <a:defRPr sz="2000"/>
            </a:pPr>
            <a:r>
              <a:t>Use the workflow, verify the context, protect sensitive data and preserve traceability.</a:t>
            </a:r>
          </a:p>
          <a:p>
            <a:pPr>
              <a:spcAft>
                <a:spcPts val="700"/>
              </a:spcAft>
              <a:defRPr sz="2000"/>
            </a:pPr>
            <a:r>
              <a:t>When something looks wrong: stop, verify, and escalate rather than bypassing the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EMTAF • Staff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